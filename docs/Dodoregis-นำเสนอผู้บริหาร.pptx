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1B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874519"/>
            <a:ext cx="146304" cy="1691640"/>
          </a:xfrm>
          <a:prstGeom prst="rect">
            <a:avLst/>
          </a:prstGeom>
          <a:solidFill>
            <a:srgbClr val="2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8288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FA36B"/>
                </a:solidFill>
                <a:latin typeface="Tahoma"/>
                <a:ea typeface="Tahoma"/>
                <a:cs typeface="Tahoma"/>
              </a:rPr>
              <a:t>PROJECT OVERVIEW &amp;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2286000"/>
            <a:ext cx="10241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54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Dodoregis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D7DDE5"/>
                </a:solidFill>
                <a:latin typeface="Tahoma"/>
                <a:ea typeface="Tahoma"/>
                <a:cs typeface="Tahoma"/>
              </a:rPr>
              <a:t>ระบบลงทะเบียนและติดตามงานทดสอบ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16052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9AA0AA"/>
                </a:solidFill>
                <a:latin typeface="Tahoma"/>
                <a:ea typeface="Tahoma"/>
                <a:cs typeface="Tahoma"/>
              </a:rPr>
              <a:t>Test Request Registration &amp; Tracking System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B8C0CC"/>
                </a:solidFill>
                <a:latin typeface="Tahoma"/>
                <a:ea typeface="Tahoma"/>
                <a:cs typeface="Tahoma"/>
              </a:rPr>
              <a:t>ยกระดับการติดตามงานทดสอบจากกระดาษ/Excel สู่ระบบดิจิทัลบนเว็บ + มือถือ + QR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144768"/>
            <a:ext cx="7315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นำเสนอผู้บริหาร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6144768"/>
            <a:ext cx="3657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AA0AA"/>
                </a:solidFill>
                <a:latin typeface="Tahoma"/>
                <a:ea typeface="Tahoma"/>
                <a:cs typeface="Tahoma"/>
              </a:rPr>
              <a:t>กรกฎาคม 2569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84048"/>
            <a:ext cx="128016" cy="566928"/>
          </a:xfrm>
          <a:prstGeom prst="rect">
            <a:avLst/>
          </a:prstGeom>
          <a:solidFill>
            <a:srgbClr val="E56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310896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5644E"/>
                </a:solidFill>
                <a:latin typeface="Tahoma"/>
                <a:ea typeface="Tahoma"/>
                <a:cs typeface="Tahoma"/>
              </a:rPr>
              <a:t>ที่มาและความสำคัญ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57784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ปัญหาปัจจุบันของการติดตามงานทดสอบ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70432"/>
            <a:ext cx="12191695" cy="18288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9AA0AA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0AA"/>
                </a:solidFill>
                <a:latin typeface="Tahoma"/>
                <a:ea typeface="Tahoma"/>
                <a:cs typeface="Tahoma"/>
              </a:rPr>
              <a:t>Dodoregis · ระบบลงทะเบียนและติดตามงานทดสอบ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600200"/>
            <a:ext cx="525780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600200"/>
            <a:ext cx="100584" cy="1874519"/>
          </a:xfrm>
          <a:prstGeom prst="rect">
            <a:avLst/>
          </a:prstGeom>
          <a:solidFill>
            <a:srgbClr val="E56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1856232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1892807"/>
            <a:ext cx="3794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ติดตามด้วย Excel / กระดาษ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2468880"/>
            <a:ext cx="37490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ข้อมูลกระจัดกระจาย แก้ทับกัน ไม่มีเวอร์ชันเดียวที่เชื่อถือได้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46520" y="1600200"/>
            <a:ext cx="525780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46520" y="1600200"/>
            <a:ext cx="100584" cy="1874519"/>
          </a:xfrm>
          <a:prstGeom prst="rect">
            <a:avLst/>
          </a:prstGeom>
          <a:solidFill>
            <a:srgbClr val="E56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1856232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1892807"/>
            <a:ext cx="3794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ไม่เห็นภาพรวมงาน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2468880"/>
            <a:ext cx="37490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ไม่รู้ว่างานไหนถึงไหน ใครถืออะไรอยู่ งานไหนใกล้เลยกำหนด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3749039"/>
            <a:ext cx="525780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3749039"/>
            <a:ext cx="100584" cy="1874519"/>
          </a:xfrm>
          <a:prstGeom prst="rect">
            <a:avLst/>
          </a:prstGeom>
          <a:solidFill>
            <a:srgbClr val="E56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005072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4041648"/>
            <a:ext cx="3794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ตามหาชิ้นงาน / raw data ยาก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4617720"/>
            <a:ext cx="37490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ไม่รู้ชิ้นงานเก็บที่ไหน ไฟล์ผลทดสอบอยู่โฟลเดอร์ใด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46520" y="3749039"/>
            <a:ext cx="525780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46520" y="3749039"/>
            <a:ext cx="100584" cy="1874519"/>
          </a:xfrm>
          <a:prstGeom prst="rect">
            <a:avLst/>
          </a:prstGeom>
          <a:solidFill>
            <a:srgbClr val="E56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4005072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⏱️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4041648"/>
            <a:ext cx="3794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ตอบลูกค้า/ผู้รีเควสช้า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4617720"/>
            <a:ext cx="37490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ไม่มีข้อมูลสถานะเรียลไทม์ ตอบสอบถามความคืบหน้าไม่ได้ทันที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8978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FA36B"/>
                </a:solidFill>
                <a:latin typeface="Tahoma"/>
                <a:ea typeface="Tahoma"/>
                <a:cs typeface="Tahoma"/>
              </a:rPr>
              <a:t>โอกาส: </a:t>
            </a:r>
            <a:r>
              <a:rPr sz="1400" b="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ทีมทดสอบ 1–10 คน ต้องการระบบเดียวที่เห็นงานทั้งหมดตั้งแต่รับใบรีเควสจนส่งรีพอร์ท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84048"/>
            <a:ext cx="128016" cy="566928"/>
          </a:xfrm>
          <a:prstGeom prst="rect">
            <a:avLst/>
          </a:prstGeom>
          <a:solidFill>
            <a:srgbClr val="2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310896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FA36B"/>
                </a:solidFill>
                <a:latin typeface="Tahoma"/>
                <a:ea typeface="Tahoma"/>
                <a:cs typeface="Tahoma"/>
              </a:rPr>
              <a:t>โซลูชัน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57784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81D26"/>
                </a:solidFill>
                <a:latin typeface="Tahoma"/>
                <a:ea typeface="Tahoma"/>
                <a:cs typeface="Tahoma"/>
              </a:rPr>
              <a:t>Dodoregis — ระบบเดียว ครบทั้งกระบวนการ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70432"/>
            <a:ext cx="12191695" cy="18288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9AA0AA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0AA"/>
                </a:solidFill>
                <a:latin typeface="Tahoma"/>
                <a:ea typeface="Tahoma"/>
                <a:cs typeface="Tahoma"/>
              </a:rPr>
              <a:t>Dodoregis · ระบบลงทะเบียนและติดตามงานทดสอบ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เว็บแอปพลิเคชันที่ใช้ได้ทั้งคอมพิวเตอร์และมือถือ · UI ภาษาไทย · ติด QR ที่ชิ้นงานสแกนดูงานได้ทันที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148840"/>
            <a:ext cx="2615184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148840"/>
            <a:ext cx="2615184" cy="128016"/>
          </a:xfrm>
          <a:prstGeom prst="rect">
            <a:avLst/>
          </a:prstGeom>
          <a:solidFill>
            <a:srgbClr val="2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560320"/>
            <a:ext cx="206654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🗂️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383280"/>
            <a:ext cx="21122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โครงสร้าง 2 ชั้น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977639"/>
            <a:ext cx="2112263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1 ใบรีเควส = สถานะรวม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ภายในมีหลายรายการทดสอบ (item) แยกสถานะเอง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599" y="2148840"/>
            <a:ext cx="2615184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599" y="2148840"/>
            <a:ext cx="2615184" cy="128016"/>
          </a:xfrm>
          <a:prstGeom prst="rect">
            <a:avLst/>
          </a:prstGeom>
          <a:solidFill>
            <a:srgbClr val="2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0" y="2560320"/>
            <a:ext cx="206654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3383280"/>
            <a:ext cx="21122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81D26"/>
                </a:solidFill>
                <a:latin typeface="Tahoma"/>
                <a:ea typeface="Tahoma"/>
                <a:cs typeface="Tahoma"/>
              </a:rPr>
              <a:t>QR + มือถือ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3977639"/>
            <a:ext cx="2112263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สแกน QR ที่ชิ้นงาน เห็นรายละเอียด สถานะ ที่เก็บชิ้นงาน และ raw data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2148840"/>
            <a:ext cx="2615184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92240" y="2148840"/>
            <a:ext cx="2615184" cy="128016"/>
          </a:xfrm>
          <a:prstGeom prst="rect">
            <a:avLst/>
          </a:prstGeom>
          <a:solidFill>
            <a:srgbClr val="2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59" y="2560320"/>
            <a:ext cx="206654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59" y="3383280"/>
            <a:ext cx="21122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ติดตามเรียลไทม์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59" y="3977639"/>
            <a:ext cx="2112263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Dashboard, ตารางงานรายสัปดาห์รายคน, Analytics คอขวด/aging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26880" y="2148840"/>
            <a:ext cx="2615184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326880" y="2148840"/>
            <a:ext cx="2615184" cy="128016"/>
          </a:xfrm>
          <a:prstGeom prst="rect">
            <a:avLst/>
          </a:prstGeom>
          <a:solidFill>
            <a:srgbClr val="2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0" y="2560320"/>
            <a:ext cx="206654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3383280"/>
            <a:ext cx="21122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แจ้งเตือน + ตรวจย้อนกลับ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3977639"/>
            <a:ext cx="2112263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แจ้งเตือนในระบบ + LINE OA, บันทึกประวัติทุกการเปลี่ยนแปลง (audit trail)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8064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แทนที่ Excel/กระดาษ ด้วยแหล่งข้อมูลเดียว (single source of truth) ที่ทุกคนเห็นตรงกัน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743200"/>
            <a:ext cx="146304" cy="1371600"/>
          </a:xfrm>
          <a:prstGeom prst="rect">
            <a:avLst/>
          </a:prstGeom>
          <a:solidFill>
            <a:srgbClr val="2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697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FA36B"/>
                </a:solidFill>
                <a:latin typeface="Tahoma"/>
                <a:ea typeface="Tahoma"/>
                <a:cs typeface="Tahoma"/>
              </a:rPr>
              <a:t>ตัวอย่างการใช้งานจริง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310896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ฟีเจอร์ของระบบ (พร้อมสกรีนช็อตหน้าจอ)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11480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9AA0AA"/>
                </a:solidFill>
                <a:latin typeface="Tahoma"/>
                <a:ea typeface="Tahoma"/>
                <a:cs typeface="Tahoma"/>
              </a:rPr>
              <a:t>7 กลุ่มฟีเจอร์หลัก — จากหน้าจอระบบจริงที่ใช้งานได้แล้ว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84048"/>
            <a:ext cx="128016" cy="566928"/>
          </a:xfrm>
          <a:prstGeom prst="rect">
            <a:avLst/>
          </a:prstGeom>
          <a:solidFill>
            <a:srgbClr val="2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310896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FA36B"/>
                </a:solidFill>
                <a:latin typeface="Tahoma"/>
                <a:ea typeface="Tahoma"/>
                <a:cs typeface="Tahoma"/>
              </a:rPr>
              <a:t>หน้าหลัก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57784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แดชบอร์ด &amp; Loading รายบุคคล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70432"/>
            <a:ext cx="12191695" cy="18288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9AA0AA"/>
                </a:solidFill>
                <a:latin typeface="Tahoma"/>
                <a:ea typeface="Tahoma"/>
                <a:cs typeface="Tahoma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0AA"/>
                </a:solidFill>
                <a:latin typeface="Tahoma"/>
                <a:ea typeface="Tahoma"/>
                <a:cs typeface="Tahoma"/>
              </a:rPr>
              <a:t>Dodoregis · ระบบลงทะเบียนและติดตามงานทดสอบ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00200"/>
            <a:ext cx="3977639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1">
                <a:solidFill>
                  <a:srgbClr val="2FA36B"/>
                </a:solidFill>
                <a:latin typeface="Tahoma"/>
                <a:ea typeface="Tahoma"/>
                <a:cs typeface="Tahoma"/>
              </a:rPr>
              <a:t>›  </a:t>
            </a:r>
            <a:r>
              <a:rPr sz="135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การ์ด KPI: งานทั้งหมด · เลยกำหนด · ครบใน 7 วัน · ส่งตรงเป้า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1">
                <a:solidFill>
                  <a:srgbClr val="2FA36B"/>
                </a:solidFill>
                <a:latin typeface="Tahoma"/>
                <a:ea typeface="Tahoma"/>
                <a:cs typeface="Tahoma"/>
              </a:rPr>
              <a:t>›  </a:t>
            </a:r>
            <a:r>
              <a:rPr sz="135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จำนวน item แยกตาม 10 สถานะ — เห็นคอขวดทันที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1">
                <a:solidFill>
                  <a:srgbClr val="2FA36B"/>
                </a:solidFill>
                <a:latin typeface="Tahoma"/>
                <a:ea typeface="Tahoma"/>
                <a:cs typeface="Tahoma"/>
              </a:rPr>
              <a:t>›  </a:t>
            </a:r>
            <a:r>
              <a:rPr sz="135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Workload ต่อคน: ใครถืองานกี่ชิ้น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1">
                <a:solidFill>
                  <a:srgbClr val="2FA36B"/>
                </a:solidFill>
                <a:latin typeface="Tahoma"/>
                <a:ea typeface="Tahoma"/>
                <a:cs typeface="Tahoma"/>
              </a:rPr>
              <a:t>›  </a:t>
            </a:r>
            <a:r>
              <a:rPr sz="135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Loading รายบุคคล (วันนี้/สัปดาห์นี้) ว่าใครต้องทำงานไหน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6290" y="1385316"/>
            <a:ext cx="6360898" cy="4681728"/>
          </a:xfrm>
          <a:prstGeom prst="rect">
            <a:avLst/>
          </a:prstGeom>
          <a:solidFill>
            <a:srgbClr val="FFFFFF"/>
          </a:solidFill>
          <a:ln w="15875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ashboard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8294" y="1417320"/>
            <a:ext cx="6296890" cy="461771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84048"/>
            <a:ext cx="128016" cy="566928"/>
          </a:xfrm>
          <a:prstGeom prst="rect">
            <a:avLst/>
          </a:prstGeom>
          <a:solidFill>
            <a:srgbClr val="3B7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310896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3B7CC4"/>
                </a:solidFill>
                <a:latin typeface="Tahoma"/>
                <a:ea typeface="Tahoma"/>
                <a:cs typeface="Tahoma"/>
              </a:rPr>
              <a:t>รายการงาน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57784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ใบรีเควส + รายการทดสอบ (โครงสร้าง 2 ชั้น)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70432"/>
            <a:ext cx="12191695" cy="18288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9AA0AA"/>
                </a:solidFill>
                <a:latin typeface="Tahoma"/>
                <a:ea typeface="Tahoma"/>
                <a:cs typeface="Tahoma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0AA"/>
                </a:solidFill>
                <a:latin typeface="Tahoma"/>
                <a:ea typeface="Tahoma"/>
                <a:cs typeface="Tahoma"/>
              </a:rPr>
              <a:t>Dodoregis · ระบบลงทะเบียนและติดตามงานทดสอบ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00200"/>
            <a:ext cx="3977639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1">
                <a:solidFill>
                  <a:srgbClr val="3B7CC4"/>
                </a:solidFill>
                <a:latin typeface="Tahoma"/>
                <a:ea typeface="Tahoma"/>
                <a:cs typeface="Tahoma"/>
              </a:rPr>
              <a:t>›  </a:t>
            </a:r>
            <a:r>
              <a:rPr sz="135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1 ใบรีเควส = สถานะรวม + แถบความคืบหน้า (เสร็จกี่/กี่ item)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1">
                <a:solidFill>
                  <a:srgbClr val="3B7CC4"/>
                </a:solidFill>
                <a:latin typeface="Tahoma"/>
                <a:ea typeface="Tahoma"/>
                <a:cs typeface="Tahoma"/>
              </a:rPr>
              <a:t>›  </a:t>
            </a:r>
            <a:r>
              <a:rPr sz="135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ภายในมีหลาย item แยกสถานะ · ผู้รับผิดชอบ · กำหนดจบ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1">
                <a:solidFill>
                  <a:srgbClr val="3B7CC4"/>
                </a:solidFill>
                <a:latin typeface="Tahoma"/>
                <a:ea typeface="Tahoma"/>
                <a:cs typeface="Tahoma"/>
              </a:rPr>
              <a:t>›  </a:t>
            </a:r>
            <a:r>
              <a:rPr sz="135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QR ระดับใบ + ปุ่มพิมพ์ QR ทุก item รวดเดียว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1">
                <a:solidFill>
                  <a:srgbClr val="3B7CC4"/>
                </a:solidFill>
                <a:latin typeface="Tahoma"/>
                <a:ea typeface="Tahoma"/>
                <a:cs typeface="Tahoma"/>
              </a:rPr>
              <a:t>›  </a:t>
            </a:r>
            <a:r>
              <a:rPr sz="135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แนบไฟล์ระดับใบ (email / ใบรีเควส / เอกสารรวม)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79458" y="1385316"/>
            <a:ext cx="6054563" cy="4681728"/>
          </a:xfrm>
          <a:prstGeom prst="rect">
            <a:avLst/>
          </a:prstGeom>
          <a:solidFill>
            <a:srgbClr val="FFFFFF"/>
          </a:solidFill>
          <a:ln w="15875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hub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1462" y="1417320"/>
            <a:ext cx="5990555" cy="461771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84048"/>
            <a:ext cx="128016" cy="566928"/>
          </a:xfrm>
          <a:prstGeom prst="rect">
            <a:avLst/>
          </a:prstGeom>
          <a:solidFill>
            <a:srgbClr val="2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310896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FA36B"/>
                </a:solidFill>
                <a:latin typeface="Tahoma"/>
                <a:ea typeface="Tahoma"/>
                <a:cs typeface="Tahoma"/>
              </a:rPr>
              <a:t>รายการทดสอบ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57784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หน้า item — เปลี่ยนสถานะ · QR · แท็บข้อมูล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70432"/>
            <a:ext cx="12191695" cy="18288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9AA0AA"/>
                </a:solidFill>
                <a:latin typeface="Tahoma"/>
                <a:ea typeface="Tahoma"/>
                <a:cs typeface="Tahoma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0AA"/>
                </a:solidFill>
                <a:latin typeface="Tahoma"/>
                <a:ea typeface="Tahoma"/>
                <a:cs typeface="Tahoma"/>
              </a:rPr>
              <a:t>Dodoregis · ระบบลงทะเบียนและติดตามงานทดสอบ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00200"/>
            <a:ext cx="3977639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1">
                <a:solidFill>
                  <a:srgbClr val="2FA36B"/>
                </a:solidFill>
                <a:latin typeface="Tahoma"/>
                <a:ea typeface="Tahoma"/>
                <a:cs typeface="Tahoma"/>
              </a:rPr>
              <a:t>›  </a:t>
            </a:r>
            <a:r>
              <a:rPr sz="135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เปลี่ยนสถานะตาม workflow 8 ขั้น (+Hold/Cancel) มีกติกาบังคับกรอก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1">
                <a:solidFill>
                  <a:srgbClr val="2FA36B"/>
                </a:solidFill>
                <a:latin typeface="Tahoma"/>
                <a:ea typeface="Tahoma"/>
                <a:cs typeface="Tahoma"/>
              </a:rPr>
              <a:t>›  </a:t>
            </a:r>
            <a:r>
              <a:rPr sz="135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QR ย่อยระดับ item — สแกนเปิดงานนั้นตรง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1">
                <a:solidFill>
                  <a:srgbClr val="2FA36B"/>
                </a:solidFill>
                <a:latin typeface="Tahoma"/>
                <a:ea typeface="Tahoma"/>
                <a:cs typeface="Tahoma"/>
              </a:rPr>
              <a:t>›  </a:t>
            </a:r>
            <a:r>
              <a:rPr sz="135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แท็บ: ภาพรวม · รายละเอียดเทส · ความคืบหน้า · รีพอร์ท · ไฟล์แนบ · ประวัติ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1">
                <a:solidFill>
                  <a:srgbClr val="2FA36B"/>
                </a:solidFill>
                <a:latin typeface="Tahoma"/>
                <a:ea typeface="Tahoma"/>
                <a:cs typeface="Tahoma"/>
              </a:rPr>
              <a:t>›  </a:t>
            </a:r>
            <a:r>
              <a:rPr sz="135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Lead time &amp; SLA · ที่เก็บพาร์ท/หลังเสร็จ/raw 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13037" y="1385316"/>
            <a:ext cx="6587405" cy="4681728"/>
          </a:xfrm>
          <a:prstGeom prst="rect">
            <a:avLst/>
          </a:prstGeom>
          <a:solidFill>
            <a:srgbClr val="FFFFFF"/>
          </a:solidFill>
          <a:ln w="15875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tem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5041" y="1417320"/>
            <a:ext cx="6523397" cy="461771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84048"/>
            <a:ext cx="128016" cy="566928"/>
          </a:xfrm>
          <a:prstGeom prst="rect">
            <a:avLst/>
          </a:prstGeom>
          <a:solidFill>
            <a:srgbClr val="3B7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310896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3B7CC4"/>
                </a:solidFill>
                <a:latin typeface="Tahoma"/>
                <a:ea typeface="Tahoma"/>
                <a:cs typeface="Tahoma"/>
              </a:rPr>
              <a:t>ตารางงาน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57784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ตารางงานรายสัปดาห์ — ใครทำอะไรวันไหน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70432"/>
            <a:ext cx="12191695" cy="18288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9AA0AA"/>
                </a:solidFill>
                <a:latin typeface="Tahoma"/>
                <a:ea typeface="Tahoma"/>
                <a:cs typeface="Tahoma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0AA"/>
                </a:solidFill>
                <a:latin typeface="Tahoma"/>
                <a:ea typeface="Tahoma"/>
                <a:cs typeface="Tahoma"/>
              </a:rPr>
              <a:t>Dodoregis · ระบบลงทะเบียนและติดตามงานทดสอบ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00200"/>
            <a:ext cx="3977639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1">
                <a:solidFill>
                  <a:srgbClr val="3B7CC4"/>
                </a:solidFill>
                <a:latin typeface="Tahoma"/>
                <a:ea typeface="Tahoma"/>
                <a:cs typeface="Tahoma"/>
              </a:rPr>
              <a:t>›  </a:t>
            </a:r>
            <a:r>
              <a:rPr sz="135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มุมมองสัปดาห์: คน × จันทร์–อาทิตย์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1">
                <a:solidFill>
                  <a:srgbClr val="3B7CC4"/>
                </a:solidFill>
                <a:latin typeface="Tahoma"/>
                <a:ea typeface="Tahoma"/>
                <a:cs typeface="Tahoma"/>
              </a:rPr>
              <a:t>›  </a:t>
            </a:r>
            <a:r>
              <a:rPr sz="135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แผง ‘วันนี้ต้องทำอะไร’ รวมงานเลยกำหนดที่ค้าง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1">
                <a:solidFill>
                  <a:srgbClr val="3B7CC4"/>
                </a:solidFill>
                <a:latin typeface="Tahoma"/>
                <a:ea typeface="Tahoma"/>
                <a:cs typeface="Tahoma"/>
              </a:rPr>
              <a:t>›  </a:t>
            </a:r>
            <a:r>
              <a:rPr sz="135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กดชื่อคนดูงานทั้งหมดของคนนั้น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1">
                <a:solidFill>
                  <a:srgbClr val="3B7CC4"/>
                </a:solidFill>
                <a:latin typeface="Tahoma"/>
                <a:ea typeface="Tahoma"/>
                <a:cs typeface="Tahoma"/>
              </a:rPr>
              <a:t>›  </a:t>
            </a:r>
            <a:r>
              <a:rPr sz="135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เลื่อนดูสัปดาห์ก่อน/ถัดไปได้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14316" y="2410682"/>
            <a:ext cx="6784848" cy="2630995"/>
          </a:xfrm>
          <a:prstGeom prst="rect">
            <a:avLst/>
          </a:prstGeom>
          <a:solidFill>
            <a:srgbClr val="FFFFFF"/>
          </a:solidFill>
          <a:ln w="15875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chedule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442686"/>
            <a:ext cx="6720840" cy="25669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84048"/>
            <a:ext cx="128016" cy="566928"/>
          </a:xfrm>
          <a:prstGeom prst="rect">
            <a:avLst/>
          </a:prstGeom>
          <a:solidFill>
            <a:srgbClr val="2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310896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FA36B"/>
                </a:solidFill>
                <a:latin typeface="Tahoma"/>
                <a:ea typeface="Tahoma"/>
                <a:cs typeface="Tahoma"/>
              </a:rPr>
              <a:t>วิเคราะห์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57784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81D26"/>
                </a:solidFill>
                <a:latin typeface="Tahoma"/>
                <a:ea typeface="Tahoma"/>
                <a:cs typeface="Tahoma"/>
              </a:rPr>
              <a:t>Analytics / KPI — คอขวด · CFD · งานค้าง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70432"/>
            <a:ext cx="12191695" cy="18288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9AA0AA"/>
                </a:solidFill>
                <a:latin typeface="Tahoma"/>
                <a:ea typeface="Tahoma"/>
                <a:cs typeface="Tahoma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0AA"/>
                </a:solidFill>
                <a:latin typeface="Tahoma"/>
                <a:ea typeface="Tahoma"/>
                <a:cs typeface="Tahoma"/>
              </a:rPr>
              <a:t>Dodoregis · ระบบลงทะเบียนและติดตามงานทดสอบ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00200"/>
            <a:ext cx="3977639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1">
                <a:solidFill>
                  <a:srgbClr val="2FA36B"/>
                </a:solidFill>
                <a:latin typeface="Tahoma"/>
                <a:ea typeface="Tahoma"/>
                <a:cs typeface="Tahoma"/>
              </a:rPr>
              <a:t>›  </a:t>
            </a:r>
            <a:r>
              <a:rPr sz="135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KPI: throughput · ส่งตรงเป้า · lead time เฉลี่ย · retest/pass rate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1">
                <a:solidFill>
                  <a:srgbClr val="2FA36B"/>
                </a:solidFill>
                <a:latin typeface="Tahoma"/>
                <a:ea typeface="Tahoma"/>
                <a:cs typeface="Tahoma"/>
              </a:rPr>
              <a:t>›  </a:t>
            </a:r>
            <a:r>
              <a:rPr sz="135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คอขวด — เวลาเฉลี่ยในแต่ละสถานะ (หาจุดที่งานติด)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1">
                <a:solidFill>
                  <a:srgbClr val="2FA36B"/>
                </a:solidFill>
                <a:latin typeface="Tahoma"/>
                <a:ea typeface="Tahoma"/>
                <a:cs typeface="Tahoma"/>
              </a:rPr>
              <a:t>›  </a:t>
            </a:r>
            <a:r>
              <a:rPr sz="135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Cumulative Flow (CFD) 14 วัน + งานค้างนาน (aging)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1">
                <a:solidFill>
                  <a:srgbClr val="2FA36B"/>
                </a:solidFill>
                <a:latin typeface="Tahoma"/>
                <a:ea typeface="Tahoma"/>
                <a:cs typeface="Tahoma"/>
              </a:rPr>
              <a:t>›  </a:t>
            </a:r>
            <a:r>
              <a:rPr sz="135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แยกตามแผนก · เลือกช่วง เดือน/30วัน/ทั้งหมด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11972" y="1385316"/>
            <a:ext cx="5189534" cy="4681728"/>
          </a:xfrm>
          <a:prstGeom prst="rect">
            <a:avLst/>
          </a:prstGeom>
          <a:solidFill>
            <a:srgbClr val="FFFFFF"/>
          </a:solidFill>
          <a:ln w="15875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nalytics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3976" y="1417320"/>
            <a:ext cx="5125526" cy="461771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84048"/>
            <a:ext cx="128016" cy="566928"/>
          </a:xfrm>
          <a:prstGeom prst="rect">
            <a:avLst/>
          </a:prstGeom>
          <a:solidFill>
            <a:srgbClr val="3B7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310896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3B7CC4"/>
                </a:solidFill>
                <a:latin typeface="Tahoma"/>
                <a:ea typeface="Tahoma"/>
                <a:cs typeface="Tahoma"/>
              </a:rPr>
              <a:t>รายงาน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57784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รายงาน &amp; Export CSV รายปี/เดือน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70432"/>
            <a:ext cx="12191695" cy="18288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9AA0AA"/>
                </a:solidFill>
                <a:latin typeface="Tahoma"/>
                <a:ea typeface="Tahoma"/>
                <a:cs typeface="Tahoma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0AA"/>
                </a:solidFill>
                <a:latin typeface="Tahoma"/>
                <a:ea typeface="Tahoma"/>
                <a:cs typeface="Tahoma"/>
              </a:rPr>
              <a:t>Dodoregis · ระบบลงทะเบียนและติดตามงานทดสอบ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00200"/>
            <a:ext cx="3977639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1">
                <a:solidFill>
                  <a:srgbClr val="3B7CC4"/>
                </a:solidFill>
                <a:latin typeface="Tahoma"/>
                <a:ea typeface="Tahoma"/>
                <a:cs typeface="Tahoma"/>
              </a:rPr>
              <a:t>›  </a:t>
            </a:r>
            <a:r>
              <a:rPr sz="135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สรุปจำนวนงานรายปี/เดือน แยกแผนก/ผู้รีเควส/ผู้รับผิดชอบ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1">
                <a:solidFill>
                  <a:srgbClr val="3B7CC4"/>
                </a:solidFill>
                <a:latin typeface="Tahoma"/>
                <a:ea typeface="Tahoma"/>
                <a:cs typeface="Tahoma"/>
              </a:rPr>
              <a:t>›  </a:t>
            </a:r>
            <a:r>
              <a:rPr sz="135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ดาวน์โหลด CSV (UTF-8) เปิด Excel / Google Sheets ได้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1">
                <a:solidFill>
                  <a:srgbClr val="3B7CC4"/>
                </a:solidFill>
                <a:latin typeface="Tahoma"/>
                <a:ea typeface="Tahoma"/>
                <a:cs typeface="Tahoma"/>
              </a:rPr>
              <a:t>›  </a:t>
            </a:r>
            <a:r>
              <a:rPr sz="135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เก็บเป็นข้อมูลย้อนหลังรายปี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1">
                <a:solidFill>
                  <a:srgbClr val="3B7CC4"/>
                </a:solidFill>
                <a:latin typeface="Tahoma"/>
                <a:ea typeface="Tahoma"/>
                <a:cs typeface="Tahoma"/>
              </a:rPr>
              <a:t>›  </a:t>
            </a:r>
            <a:r>
              <a:rPr sz="135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ใช้ประกอบการวางแผนกำลังคน/รายงานผู้บริหาร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83641" y="1385316"/>
            <a:ext cx="5846196" cy="4681728"/>
          </a:xfrm>
          <a:prstGeom prst="rect">
            <a:avLst/>
          </a:prstGeom>
          <a:solidFill>
            <a:srgbClr val="FFFFFF"/>
          </a:solidFill>
          <a:ln w="15875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5645" y="1417320"/>
            <a:ext cx="5782188" cy="46177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84048"/>
            <a:ext cx="128016" cy="566928"/>
          </a:xfrm>
          <a:prstGeom prst="rect">
            <a:avLst/>
          </a:prstGeom>
          <a:solidFill>
            <a:srgbClr val="2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310896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FA36B"/>
                </a:solidFill>
                <a:latin typeface="Tahoma"/>
                <a:ea typeface="Tahoma"/>
                <a:cs typeface="Tahoma"/>
              </a:rPr>
              <a:t>แจ้งเตือน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57784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แจ้งเตือนในระบบ + LINE OA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70432"/>
            <a:ext cx="12191695" cy="18288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9AA0AA"/>
                </a:solidFill>
                <a:latin typeface="Tahoma"/>
                <a:ea typeface="Tahoma"/>
                <a:cs typeface="Tahoma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0AA"/>
                </a:solidFill>
                <a:latin typeface="Tahoma"/>
                <a:ea typeface="Tahoma"/>
                <a:cs typeface="Tahoma"/>
              </a:rPr>
              <a:t>Dodoregis · ระบบลงทะเบียนและติดตามงานทดสอบ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00200"/>
            <a:ext cx="3977639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1">
                <a:solidFill>
                  <a:srgbClr val="2FA36B"/>
                </a:solidFill>
                <a:latin typeface="Tahoma"/>
                <a:ea typeface="Tahoma"/>
                <a:cs typeface="Tahoma"/>
              </a:rPr>
              <a:t>›  </a:t>
            </a:r>
            <a:r>
              <a:rPr sz="135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เตือนงานเลยกำหนด/ใกล้กำหนด และการเปลี่ยนสถานะ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1">
                <a:solidFill>
                  <a:srgbClr val="2FA36B"/>
                </a:solidFill>
                <a:latin typeface="Tahoma"/>
                <a:ea typeface="Tahoma"/>
                <a:cs typeface="Tahoma"/>
              </a:rPr>
              <a:t>›  </a:t>
            </a:r>
            <a:r>
              <a:rPr sz="135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กระดิ่งแสดงจำนวนที่ยังไม่อ่านทุกหน้า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1">
                <a:solidFill>
                  <a:srgbClr val="2FA36B"/>
                </a:solidFill>
                <a:latin typeface="Tahoma"/>
                <a:ea typeface="Tahoma"/>
                <a:cs typeface="Tahoma"/>
              </a:rPr>
              <a:t>›  </a:t>
            </a:r>
            <a:r>
              <a:rPr sz="135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ผูก LINE OA ส่งเด้งเข้าไลน์ (แทน LINE Notify)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1">
                <a:solidFill>
                  <a:srgbClr val="2FA36B"/>
                </a:solidFill>
                <a:latin typeface="Tahoma"/>
                <a:ea typeface="Tahoma"/>
                <a:cs typeface="Tahoma"/>
              </a:rPr>
              <a:t>›  </a:t>
            </a:r>
            <a:r>
              <a:rPr sz="135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รองรับ webhook (Slack / Discord / Teams) ด้วย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14316" y="1908174"/>
            <a:ext cx="6784848" cy="3636009"/>
          </a:xfrm>
          <a:prstGeom prst="rect">
            <a:avLst/>
          </a:prstGeom>
          <a:solidFill>
            <a:srgbClr val="FFFFFF"/>
          </a:solidFill>
          <a:ln w="15875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notifications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940179"/>
            <a:ext cx="6720840" cy="357200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84048"/>
            <a:ext cx="128016" cy="566928"/>
          </a:xfrm>
          <a:prstGeom prst="rect">
            <a:avLst/>
          </a:prstGeom>
          <a:solidFill>
            <a:srgbClr val="2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310896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FA36B"/>
                </a:solidFill>
                <a:latin typeface="Tahoma"/>
                <a:ea typeface="Tahoma"/>
                <a:cs typeface="Tahoma"/>
              </a:rPr>
              <a:t>สรุป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57784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ฟีเจอร์ที่พัฒนาเสร็จและใช้งานได้แล้ว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70432"/>
            <a:ext cx="12191695" cy="18288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9AA0AA"/>
                </a:solidFill>
                <a:latin typeface="Tahoma"/>
                <a:ea typeface="Tahoma"/>
                <a:cs typeface="Tahoma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0AA"/>
                </a:solidFill>
                <a:latin typeface="Tahoma"/>
                <a:ea typeface="Tahoma"/>
                <a:cs typeface="Tahoma"/>
              </a:rPr>
              <a:t>Dodoregis · ระบบลงทะเบียนและติดตามงานทดสอบ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554480"/>
            <a:ext cx="52578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9264" y="1828800"/>
            <a:ext cx="310896" cy="310896"/>
          </a:xfrm>
          <a:prstGeom prst="ellipse">
            <a:avLst/>
          </a:prstGeom>
          <a:solidFill>
            <a:srgbClr val="2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181965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1664207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โครงสร้าง 2 ชั้น (ใบ + item)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2029967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สถานะรวมของใบคำนวณอัตโนมัติจากทุก item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46520" y="1554480"/>
            <a:ext cx="52578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92824" y="1828800"/>
            <a:ext cx="310896" cy="310896"/>
          </a:xfrm>
          <a:prstGeom prst="ellipse">
            <a:avLst/>
          </a:prstGeom>
          <a:solidFill>
            <a:srgbClr val="2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92824" y="181965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68312" y="1664207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81D26"/>
                </a:solidFill>
                <a:latin typeface="Tahoma"/>
                <a:ea typeface="Tahoma"/>
                <a:cs typeface="Tahoma"/>
              </a:rPr>
              <a:t>Workflow 8 สถานะ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68312" y="2029967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รับใบ → รอพาร์ท → เทส → รีพอร์ท → ปิดงาน (+Hold/Cancel)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2496312"/>
            <a:ext cx="52578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69264" y="2770632"/>
            <a:ext cx="310896" cy="310896"/>
          </a:xfrm>
          <a:prstGeom prst="ellipse">
            <a:avLst/>
          </a:prstGeom>
          <a:solidFill>
            <a:srgbClr val="2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" y="276148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44752" y="260604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81D26"/>
                </a:solidFill>
                <a:latin typeface="Tahoma"/>
                <a:ea typeface="Tahoma"/>
                <a:cs typeface="Tahoma"/>
              </a:rPr>
              <a:t>QR ระดับใบ + ระดับ item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44752" y="297180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พิมพ์ label 50×25 มม. ติดชิ้นงาน สแกนเปิดหน้างานตรง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46520" y="2496312"/>
            <a:ext cx="52578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592824" y="2770632"/>
            <a:ext cx="310896" cy="310896"/>
          </a:xfrm>
          <a:prstGeom prst="ellipse">
            <a:avLst/>
          </a:prstGeom>
          <a:solidFill>
            <a:srgbClr val="2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92824" y="276148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68312" y="260604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81D26"/>
                </a:solidFill>
                <a:latin typeface="Tahoma"/>
                <a:ea typeface="Tahoma"/>
                <a:cs typeface="Tahoma"/>
              </a:rPr>
              <a:t>Dashboard + Loading รายคน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68312" y="297180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เห็นภาระงานแต่ละคน งานด่วน งานเลยกำหนด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3438144"/>
            <a:ext cx="52578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69264" y="3712463"/>
            <a:ext cx="310896" cy="310896"/>
          </a:xfrm>
          <a:prstGeom prst="ellipse">
            <a:avLst/>
          </a:prstGeom>
          <a:solidFill>
            <a:srgbClr val="2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" y="370332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44752" y="3547872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ตารางงานรายสัปดาห์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44752" y="3913631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ดูได้ว่าวันนี้/สัปดาห์นี้ใครต้องทำอะไร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46520" y="3438144"/>
            <a:ext cx="52578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592824" y="3712463"/>
            <a:ext cx="310896" cy="310896"/>
          </a:xfrm>
          <a:prstGeom prst="ellipse">
            <a:avLst/>
          </a:prstGeom>
          <a:solidFill>
            <a:srgbClr val="2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92824" y="370332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68312" y="3547872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81D26"/>
                </a:solidFill>
                <a:latin typeface="Tahoma"/>
                <a:ea typeface="Tahoma"/>
                <a:cs typeface="Tahoma"/>
              </a:rPr>
              <a:t>Analytics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68312" y="3913631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คอขวด (bottleneck), CFD, งานค้างนาน (aging)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" y="4379976"/>
            <a:ext cx="52578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69264" y="4654296"/>
            <a:ext cx="310896" cy="310896"/>
          </a:xfrm>
          <a:prstGeom prst="ellipse">
            <a:avLst/>
          </a:prstGeom>
          <a:solidFill>
            <a:srgbClr val="2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9264" y="464515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44752" y="4489704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รายงาน + Export CSV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44752" y="4855464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สรุปรายปี/เดือน แยกแผนก/ผู้รีเควส/ผู้รับผิดชอบ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46520" y="4379976"/>
            <a:ext cx="52578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592824" y="4654296"/>
            <a:ext cx="310896" cy="310896"/>
          </a:xfrm>
          <a:prstGeom prst="ellipse">
            <a:avLst/>
          </a:prstGeom>
          <a:solidFill>
            <a:srgbClr val="2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92824" y="464515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68312" y="4489704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แจ้งเตือน in-app + LINE OA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68312" y="4855464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เตือนงานใกล้ครบกำหนด/เปลี่ยนสถานะ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2960" y="5321808"/>
            <a:ext cx="52578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69264" y="5596128"/>
            <a:ext cx="310896" cy="310896"/>
          </a:xfrm>
          <a:prstGeom prst="ellipse">
            <a:avLst/>
          </a:prstGeom>
          <a:solidFill>
            <a:srgbClr val="2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" y="558698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44752" y="5431536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81D26"/>
                </a:solidFill>
                <a:latin typeface="Tahoma"/>
                <a:ea typeface="Tahoma"/>
                <a:cs typeface="Tahoma"/>
              </a:rPr>
              <a:t>Audit trail + Chain of custody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444752" y="5797296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บันทึกทุกการเปลี่ยนสถานะและการย้ายที่เก็บ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46520" y="5321808"/>
            <a:ext cx="52578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592824" y="5596128"/>
            <a:ext cx="310896" cy="310896"/>
          </a:xfrm>
          <a:prstGeom prst="ellipse">
            <a:avLst/>
          </a:prstGeom>
          <a:solidFill>
            <a:srgbClr val="2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92824" y="558698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✓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68312" y="5431536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ไฟล์แนบ, Master data, TAT/SLA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68312" y="5797296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แนบรูป/เอกสาร, จัดการค่าตั้งต้น, วัดเวลาทำงานเทียบเป้า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84048"/>
            <a:ext cx="128016" cy="566928"/>
          </a:xfrm>
          <a:prstGeom prst="rect">
            <a:avLst/>
          </a:prstGeom>
          <a:solidFill>
            <a:srgbClr val="2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310896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FA36B"/>
                </a:solidFill>
                <a:latin typeface="Tahoma"/>
                <a:ea typeface="Tahoma"/>
                <a:cs typeface="Tahoma"/>
              </a:rPr>
              <a:t>คุณค่าต่อองค์กร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57784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ประโยชน์ที่ได้รับ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70432"/>
            <a:ext cx="12191695" cy="18288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9AA0AA"/>
                </a:solidFill>
                <a:latin typeface="Tahoma"/>
                <a:ea typeface="Tahoma"/>
                <a:cs typeface="Tahoma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0AA"/>
                </a:solidFill>
                <a:latin typeface="Tahoma"/>
                <a:ea typeface="Tahoma"/>
                <a:cs typeface="Tahoma"/>
              </a:rPr>
              <a:t>Dodoregis · ระบบลงทะเบียนและติดตามงานทดสอบ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600200"/>
            <a:ext cx="33832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600200"/>
            <a:ext cx="3383280" cy="109728"/>
          </a:xfrm>
          <a:prstGeom prst="rect">
            <a:avLst/>
          </a:prstGeom>
          <a:solidFill>
            <a:srgbClr val="2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196596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ลดงานตกหล่น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560320"/>
            <a:ext cx="2788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ทุกใบรีเควสเข้าระบบ มีสถานะชัด ไม่มีงานหาย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600200"/>
            <a:ext cx="33832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600200"/>
            <a:ext cx="3383280" cy="109728"/>
          </a:xfrm>
          <a:prstGeom prst="rect">
            <a:avLst/>
          </a:prstGeom>
          <a:solidFill>
            <a:srgbClr val="3B7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196596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เห็นภาพรวมเรียลไทม์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560320"/>
            <a:ext cx="2788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ผู้บริหาร/หัวหน้าดูภาระงานและคอขวดได้ทันที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600200"/>
            <a:ext cx="33832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600200"/>
            <a:ext cx="3383280" cy="109728"/>
          </a:xfrm>
          <a:prstGeom prst="rect">
            <a:avLst/>
          </a:prstGeom>
          <a:solidFill>
            <a:srgbClr val="2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196596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ตอบผู้รีเควสได้เร็ว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560320"/>
            <a:ext cx="2788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เช็กความคืบหน้าจากมือถือ/QR ได้ทุกที่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3840479"/>
            <a:ext cx="33832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3840479"/>
            <a:ext cx="3383280" cy="109728"/>
          </a:xfrm>
          <a:prstGeom prst="rect">
            <a:avLst/>
          </a:prstGeom>
          <a:solidFill>
            <a:srgbClr val="3B7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420624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ตรวจสอบย้อนกลับได้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800599"/>
            <a:ext cx="2788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มีประวัติครบ รองรับ audit / ISO / ลูกค้า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3840479"/>
            <a:ext cx="33832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3840479"/>
            <a:ext cx="3383280" cy="109728"/>
          </a:xfrm>
          <a:prstGeom prst="rect">
            <a:avLst/>
          </a:prstGeom>
          <a:solidFill>
            <a:srgbClr val="2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00600" y="420624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ข้อมูลเชิงบริหาร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4800599"/>
            <a:ext cx="2788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รายงานรายปี/เดือน ใช้วางแผนกำลังคน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38160" y="3840479"/>
            <a:ext cx="33832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38160" y="3840479"/>
            <a:ext cx="3383280" cy="109728"/>
          </a:xfrm>
          <a:prstGeom prst="rect">
            <a:avLst/>
          </a:prstGeom>
          <a:solidFill>
            <a:srgbClr val="3B7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58200" y="420624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ต้นทุนต่ำ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4800599"/>
            <a:ext cx="2788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ใช้เทคโนโลยีโอเพนซอร์สฟรี ไม่มีค่าไลเซนส์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84048"/>
            <a:ext cx="128016" cy="566928"/>
          </a:xfrm>
          <a:prstGeom prst="rect">
            <a:avLst/>
          </a:prstGeom>
          <a:solidFill>
            <a:srgbClr val="2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310896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FA36B"/>
                </a:solidFill>
                <a:latin typeface="Tahoma"/>
                <a:ea typeface="Tahoma"/>
                <a:cs typeface="Tahoma"/>
              </a:rPr>
              <a:t>เทคโนโลยีและต้นทุน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57784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สร้างด้วยเทคโนโลยีมาตรฐาน ต้นทุนต่ำ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70432"/>
            <a:ext cx="12191695" cy="18288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9AA0AA"/>
                </a:solidFill>
                <a:latin typeface="Tahoma"/>
                <a:ea typeface="Tahoma"/>
                <a:cs typeface="Tahoma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0AA"/>
                </a:solidFill>
                <a:latin typeface="Tahoma"/>
                <a:ea typeface="Tahoma"/>
                <a:cs typeface="Tahoma"/>
              </a:rPr>
              <a:t>Dodoregis · ระบบลงทะเบียนและติดตามงานทดสอบ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600200"/>
            <a:ext cx="54864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1874519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จุดเด่นทางเทคนิค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468880"/>
            <a:ext cx="493776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2FA36B"/>
                </a:solidFill>
                <a:latin typeface="Tahoma"/>
                <a:ea typeface="Tahoma"/>
                <a:cs typeface="Tahoma"/>
              </a:rPr>
              <a:t>›  </a:t>
            </a:r>
            <a:r>
              <a:rPr sz="135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Next.js 16 (เว็บสมัยใหม่ รองรับมือถือ)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2FA36B"/>
                </a:solidFill>
                <a:latin typeface="Tahoma"/>
                <a:ea typeface="Tahoma"/>
                <a:cs typeface="Tahoma"/>
              </a:rPr>
              <a:t>›  </a:t>
            </a:r>
            <a:r>
              <a:rPr sz="135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ฐานข้อมูล SQLite / Prisma (ไม่ต้องมีเซิร์ฟเวอร์ DB แยก)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2FA36B"/>
                </a:solidFill>
                <a:latin typeface="Tahoma"/>
                <a:ea typeface="Tahoma"/>
                <a:cs typeface="Tahoma"/>
              </a:rPr>
              <a:t>›  </a:t>
            </a:r>
            <a:r>
              <a:rPr sz="135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โอเพนซอร์สทั้งหมด — ไม่มีค่าลิขสิทธิ์รายปี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2FA36B"/>
                </a:solidFill>
                <a:latin typeface="Tahoma"/>
                <a:ea typeface="Tahoma"/>
                <a:cs typeface="Tahoma"/>
              </a:rPr>
              <a:t>›  </a:t>
            </a:r>
            <a:r>
              <a:rPr sz="135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รันได้บนเครื่องทีม หรือเซิร์ฟเวอร์ภายในบริษัท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2FA36B"/>
                </a:solidFill>
                <a:latin typeface="Tahoma"/>
                <a:ea typeface="Tahoma"/>
                <a:cs typeface="Tahoma"/>
              </a:rPr>
              <a:t>›  </a:t>
            </a:r>
            <a:r>
              <a:rPr sz="135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โค้ดเก็บบน GitHub เวอร์ชันควบคุมได้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37960" y="1600200"/>
            <a:ext cx="4800600" cy="4023360"/>
          </a:xfrm>
          <a:prstGeom prst="rect">
            <a:avLst/>
          </a:prstGeom>
          <a:solidFill>
            <a:srgbClr val="10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192024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ต้นทุนโดยประมาณ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56032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C7CFDA"/>
                </a:solidFill>
                <a:latin typeface="Tahoma"/>
                <a:ea typeface="Tahoma"/>
                <a:cs typeface="Tahoma"/>
              </a:rPr>
              <a:t>ค่าซอฟต์แวร์/ไลเซนส์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560320"/>
            <a:ext cx="1600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0 บาท (โอเพนซอร์ส)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0" y="2980944"/>
            <a:ext cx="4206240" cy="12801"/>
          </a:xfrm>
          <a:prstGeom prst="rect">
            <a:avLst/>
          </a:prstGeom>
          <a:solidFill>
            <a:srgbClr val="1B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3218687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C7CFDA"/>
                </a:solidFill>
                <a:latin typeface="Tahoma"/>
                <a:ea typeface="Tahoma"/>
                <a:cs typeface="Tahoma"/>
              </a:rPr>
              <a:t>โฮสต์ภายในบริษัท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3218687"/>
            <a:ext cx="1600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ใช้เครื่อง/เซิร์ฟเวอร์เดิม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0" y="3639311"/>
            <a:ext cx="4206240" cy="12801"/>
          </a:xfrm>
          <a:prstGeom prst="rect">
            <a:avLst/>
          </a:prstGeom>
          <a:solidFill>
            <a:srgbClr val="1B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3877055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C7CFDA"/>
                </a:solidFill>
                <a:latin typeface="Tahoma"/>
                <a:ea typeface="Tahoma"/>
                <a:cs typeface="Tahoma"/>
              </a:rPr>
              <a:t>แจ้งเตือน LINE OA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3877055"/>
            <a:ext cx="1600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ฟรี (ตามโควตา LINE)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0" y="4297679"/>
            <a:ext cx="4206240" cy="12801"/>
          </a:xfrm>
          <a:prstGeom prst="rect">
            <a:avLst/>
          </a:prstGeom>
          <a:solidFill>
            <a:srgbClr val="1B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4535423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C7CFDA"/>
                </a:solidFill>
                <a:latin typeface="Tahoma"/>
                <a:ea typeface="Tahoma"/>
                <a:cs typeface="Tahoma"/>
              </a:rPr>
              <a:t>ค่าพัฒนา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4535423"/>
            <a:ext cx="1600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พัฒนาภายในทีม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4956047"/>
            <a:ext cx="4206240" cy="12801"/>
          </a:xfrm>
          <a:prstGeom prst="rect">
            <a:avLst/>
          </a:prstGeom>
          <a:solidFill>
            <a:srgbClr val="1B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507492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2FA36B"/>
                </a:solidFill>
                <a:latin typeface="Tahoma"/>
                <a:ea typeface="Tahoma"/>
                <a:cs typeface="Tahoma"/>
              </a:rPr>
              <a:t>รวมค่าใช้จ่ายเริ่มต้นต่ำมาก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84048"/>
            <a:ext cx="128016" cy="566928"/>
          </a:xfrm>
          <a:prstGeom prst="rect">
            <a:avLst/>
          </a:prstGeom>
          <a:solidFill>
            <a:srgbClr val="3B7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310896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3B7CC4"/>
                </a:solidFill>
                <a:latin typeface="Tahoma"/>
                <a:ea typeface="Tahoma"/>
                <a:cs typeface="Tahoma"/>
              </a:rPr>
              <a:t>แผนการพัฒนา (ROADMAP)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57784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เฟสการพัฒนา — ทำอะไรไปแล้ว และจะทำอะไรต่อ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70432"/>
            <a:ext cx="12191695" cy="18288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9AA0AA"/>
                </a:solidFill>
                <a:latin typeface="Tahoma"/>
                <a:ea typeface="Tahoma"/>
                <a:cs typeface="Tahoma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0AA"/>
                </a:solidFill>
                <a:latin typeface="Tahoma"/>
                <a:ea typeface="Tahoma"/>
                <a:cs typeface="Tahoma"/>
              </a:rPr>
              <a:t>Dodoregis · ระบบลงทะเบียนและติดตามงานทดสอบ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167128"/>
            <a:ext cx="11146536" cy="27432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600200"/>
            <a:ext cx="2615184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1600200"/>
            <a:ext cx="2615184" cy="566928"/>
          </a:xfrm>
          <a:prstGeom prst="rect">
            <a:avLst/>
          </a:prstGeom>
          <a:solidFill>
            <a:srgbClr val="2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1700784"/>
            <a:ext cx="21579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PHASE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78992" y="2377440"/>
            <a:ext cx="1600200" cy="384048"/>
          </a:xfrm>
          <a:prstGeom prst="roundRect">
            <a:avLst/>
          </a:prstGeom>
          <a:solidFill>
            <a:srgbClr val="EF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377440"/>
            <a:ext cx="1600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FA36B"/>
                </a:solidFill>
                <a:latin typeface="Tahoma"/>
                <a:ea typeface="Tahoma"/>
                <a:cs typeface="Tahoma"/>
              </a:rPr>
              <a:t>เสร็จแล้ว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2971800"/>
            <a:ext cx="2157984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2FA36B"/>
                </a:solidFill>
                <a:latin typeface="Tahoma"/>
                <a:ea typeface="Tahoma"/>
                <a:cs typeface="Tahoma"/>
              </a:rPr>
              <a:t>›  </a:t>
            </a:r>
            <a:r>
              <a:rPr sz="120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ต้นแบบด้วย Google Sheets + AppSheet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2FA36B"/>
                </a:solidFill>
                <a:latin typeface="Tahoma"/>
                <a:ea typeface="Tahoma"/>
                <a:cs typeface="Tahoma"/>
              </a:rPr>
              <a:t>›  </a:t>
            </a:r>
            <a:r>
              <a:rPr sz="120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ออกแบบ Data model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2FA36B"/>
                </a:solidFill>
                <a:latin typeface="Tahoma"/>
                <a:ea typeface="Tahoma"/>
                <a:cs typeface="Tahoma"/>
              </a:rPr>
              <a:t>›  </a:t>
            </a:r>
            <a:r>
              <a:rPr sz="120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กำหนด workflow 8 สถานะ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599" y="1600200"/>
            <a:ext cx="2615184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599" y="1600200"/>
            <a:ext cx="2615184" cy="566928"/>
          </a:xfrm>
          <a:prstGeom prst="rect">
            <a:avLst/>
          </a:prstGeom>
          <a:solidFill>
            <a:srgbClr val="2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13631" y="1700784"/>
            <a:ext cx="21579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PHASE 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13631" y="2377440"/>
            <a:ext cx="1600200" cy="384048"/>
          </a:xfrm>
          <a:prstGeom prst="roundRect">
            <a:avLst/>
          </a:prstGeom>
          <a:solidFill>
            <a:srgbClr val="EF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13631" y="2377440"/>
            <a:ext cx="1600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FA36B"/>
                </a:solidFill>
                <a:latin typeface="Tahoma"/>
                <a:ea typeface="Tahoma"/>
                <a:cs typeface="Tahoma"/>
              </a:rPr>
              <a:t>เสร็จแล้ว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13631" y="2971800"/>
            <a:ext cx="2157984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2FA36B"/>
                </a:solidFill>
                <a:latin typeface="Tahoma"/>
                <a:ea typeface="Tahoma"/>
                <a:cs typeface="Tahoma"/>
              </a:rPr>
              <a:t>›  </a:t>
            </a:r>
            <a:r>
              <a:rPr sz="120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เว็บแอปครบฟีเจอร์หลัก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2FA36B"/>
                </a:solidFill>
                <a:latin typeface="Tahoma"/>
                <a:ea typeface="Tahoma"/>
                <a:cs typeface="Tahoma"/>
              </a:rPr>
              <a:t>›  </a:t>
            </a:r>
            <a:r>
              <a:rPr sz="120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QR, Dashboard, Analytics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2FA36B"/>
                </a:solidFill>
                <a:latin typeface="Tahoma"/>
                <a:ea typeface="Tahoma"/>
                <a:cs typeface="Tahoma"/>
              </a:rPr>
              <a:t>›  </a:t>
            </a:r>
            <a:r>
              <a:rPr sz="120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รายงาน, แจ้งเตือน, audit trail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1600200"/>
            <a:ext cx="2615184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92240" y="1600200"/>
            <a:ext cx="2615184" cy="566928"/>
          </a:xfrm>
          <a:prstGeom prst="rect">
            <a:avLst/>
          </a:prstGeom>
          <a:solidFill>
            <a:srgbClr val="3B7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48272" y="1700784"/>
            <a:ext cx="21579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PHASE 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48272" y="2377440"/>
            <a:ext cx="1600200" cy="384048"/>
          </a:xfrm>
          <a:prstGeom prst="roundRect">
            <a:avLst/>
          </a:prstGeom>
          <a:solidFill>
            <a:srgbClr val="EF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48272" y="2377440"/>
            <a:ext cx="1600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3B7CC4"/>
                </a:solidFill>
                <a:latin typeface="Tahoma"/>
                <a:ea typeface="Tahoma"/>
                <a:cs typeface="Tahoma"/>
              </a:rPr>
              <a:t>กำลังจะทำ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48272" y="2971800"/>
            <a:ext cx="2157984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3B7CC4"/>
                </a:solidFill>
                <a:latin typeface="Tahoma"/>
                <a:ea typeface="Tahoma"/>
                <a:cs typeface="Tahoma"/>
              </a:rPr>
              <a:t>›  </a:t>
            </a:r>
            <a:r>
              <a:rPr sz="120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ระบบล็อกอิน + สิทธิ์ผู้ใช้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3B7CC4"/>
                </a:solidFill>
                <a:latin typeface="Tahoma"/>
                <a:ea typeface="Tahoma"/>
                <a:cs typeface="Tahoma"/>
              </a:rPr>
              <a:t>›  </a:t>
            </a:r>
            <a:r>
              <a:rPr sz="120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Deploy ให้เข้าจากมือถือได้จริง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3B7CC4"/>
                </a:solidFill>
                <a:latin typeface="Tahoma"/>
                <a:ea typeface="Tahoma"/>
                <a:cs typeface="Tahoma"/>
              </a:rPr>
              <a:t>›  </a:t>
            </a:r>
            <a:r>
              <a:rPr sz="120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แจ้งเตือนอัตโนมัติ (cron)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3B7CC4"/>
                </a:solidFill>
                <a:latin typeface="Tahoma"/>
                <a:ea typeface="Tahoma"/>
                <a:cs typeface="Tahoma"/>
              </a:rPr>
              <a:t>›  </a:t>
            </a:r>
            <a:r>
              <a:rPr sz="120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เปิดโฟลเดอร์ raw data จากเว็บ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26880" y="1600200"/>
            <a:ext cx="2615184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326880" y="1600200"/>
            <a:ext cx="2615184" cy="566928"/>
          </a:xfrm>
          <a:prstGeom prst="rect">
            <a:avLst/>
          </a:prstGeom>
          <a:solidFill>
            <a:srgbClr val="D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82911" y="1700784"/>
            <a:ext cx="21579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PHASE 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82911" y="2377440"/>
            <a:ext cx="1600200" cy="384048"/>
          </a:xfrm>
          <a:prstGeom prst="roundRect">
            <a:avLst/>
          </a:prstGeom>
          <a:solidFill>
            <a:srgbClr val="EF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82911" y="2377440"/>
            <a:ext cx="1600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D99A00"/>
                </a:solidFill>
                <a:latin typeface="Tahoma"/>
                <a:ea typeface="Tahoma"/>
                <a:cs typeface="Tahoma"/>
              </a:rPr>
              <a:t>อนาคต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82911" y="2971800"/>
            <a:ext cx="2157984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D99A00"/>
                </a:solidFill>
                <a:latin typeface="Tahoma"/>
                <a:ea typeface="Tahoma"/>
                <a:cs typeface="Tahoma"/>
              </a:rPr>
              <a:t>›  </a:t>
            </a:r>
            <a:r>
              <a:rPr sz="120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จัดการเครื่องมือ/สอบเทียบ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D99A00"/>
                </a:solidFill>
                <a:latin typeface="Tahoma"/>
                <a:ea typeface="Tahoma"/>
                <a:cs typeface="Tahoma"/>
              </a:rPr>
              <a:t>›  </a:t>
            </a:r>
            <a:r>
              <a:rPr sz="120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คลังวิธีทดสอบ (test method)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D99A00"/>
                </a:solidFill>
                <a:latin typeface="Tahoma"/>
                <a:ea typeface="Tahoma"/>
                <a:cs typeface="Tahoma"/>
              </a:rPr>
              <a:t>›  </a:t>
            </a:r>
            <a:r>
              <a:rPr sz="120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พอร์ทัลผู้รีเควสบริการตัวเอง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D99A00"/>
                </a:solidFill>
                <a:latin typeface="Tahoma"/>
                <a:ea typeface="Tahoma"/>
                <a:cs typeface="Tahoma"/>
              </a:rPr>
              <a:t>›  </a:t>
            </a:r>
            <a:r>
              <a:rPr sz="120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รายงานเชิงลึก / BI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B7CC4"/>
                </a:solidFill>
                <a:latin typeface="Tahoma"/>
                <a:ea typeface="Tahoma"/>
                <a:cs typeface="Tahoma"/>
              </a:rPr>
              <a:t>เราอยู่ที่นี่: </a:t>
            </a:r>
            <a:r>
              <a:rPr sz="1300" b="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จบ Phase 2 — พร้อมเดินหน้า Phase 3 เพื่อใช้งานเต็มรูปแบบทั้งองค์กร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84048"/>
            <a:ext cx="128016" cy="566928"/>
          </a:xfrm>
          <a:prstGeom prst="rect">
            <a:avLst/>
          </a:prstGeom>
          <a:solidFill>
            <a:srgbClr val="D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310896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99A00"/>
                </a:solidFill>
                <a:latin typeface="Tahoma"/>
                <a:ea typeface="Tahoma"/>
                <a:cs typeface="Tahoma"/>
              </a:rPr>
              <a:t>ข้อเสนอแนะ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57784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ฟีเจอร์อนาคตที่แนะนำ (เทียบระบบ LIMS ระดับสากล)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70432"/>
            <a:ext cx="12191695" cy="18288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9AA0AA"/>
                </a:solidFill>
                <a:latin typeface="Tahoma"/>
                <a:ea typeface="Tahoma"/>
                <a:cs typeface="Tahoma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0AA"/>
                </a:solidFill>
                <a:latin typeface="Tahoma"/>
                <a:ea typeface="Tahoma"/>
                <a:cs typeface="Tahoma"/>
              </a:rPr>
              <a:t>Dodoregis · ระบบลงทะเบียนและติดตามงานทดสอบ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572768"/>
            <a:ext cx="33832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572768"/>
            <a:ext cx="100584" cy="1965960"/>
          </a:xfrm>
          <a:prstGeom prst="rect">
            <a:avLst/>
          </a:prstGeom>
          <a:solidFill>
            <a:srgbClr val="D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1847088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505456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ระบบผู้ใช้ &amp; สิทธิ์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944368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ล็อกอิน แยกบทบาท (ผู้ดูแล/วิศวกร/ผู้รีเควส) บันทึกว่าใครแก้อะไร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1572768"/>
            <a:ext cx="33832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80560" y="1572768"/>
            <a:ext cx="100584" cy="1965960"/>
          </a:xfrm>
          <a:prstGeom prst="rect">
            <a:avLst/>
          </a:prstGeom>
          <a:solidFill>
            <a:srgbClr val="D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600" y="1847088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2505456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จัดการเครื่องมือ &amp; สอบเทียบ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2944368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ติดตามเครื่องทดสอบ วันสอบเทียบ แจ้งเตือนก่อนหมดอายุ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1572768"/>
            <a:ext cx="33832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1572768"/>
            <a:ext cx="100584" cy="1965960"/>
          </a:xfrm>
          <a:prstGeom prst="rect">
            <a:avLst/>
          </a:prstGeom>
          <a:solidFill>
            <a:srgbClr val="D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1847088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505456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คลังวิธีทดสอบ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2944368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รวมมาตรฐาน/ขั้นตอนทดสอบ อ้างอิงซ้ำได้ ลดความผิดพลาด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3813048"/>
            <a:ext cx="33832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" y="3813048"/>
            <a:ext cx="100584" cy="1965960"/>
          </a:xfrm>
          <a:prstGeom prst="rect">
            <a:avLst/>
          </a:prstGeom>
          <a:solidFill>
            <a:srgbClr val="D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4087368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4745736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พอร์ทัลผู้รีเควส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5184648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ให้ผู้รีเควสส่งงาน+ติดตามสถานะเองผ่านลิงก์ ลดงานธุรการ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80560" y="3813048"/>
            <a:ext cx="33832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80560" y="3813048"/>
            <a:ext cx="100584" cy="1965960"/>
          </a:xfrm>
          <a:prstGeom prst="rect">
            <a:avLst/>
          </a:prstGeom>
          <a:solidFill>
            <a:srgbClr val="D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0600" y="4087368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✍️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0600" y="4745736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ลงนาม/อนุมัติดิจิทัล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0600" y="5184648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อนุมัติรีพอร์ทออนไลน์ มีลายเซ็นอิเล็กทรอนิกส์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38160" y="3813048"/>
            <a:ext cx="33832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38160" y="3813048"/>
            <a:ext cx="100584" cy="1965960"/>
          </a:xfrm>
          <a:prstGeom prst="rect">
            <a:avLst/>
          </a:prstGeom>
          <a:solidFill>
            <a:srgbClr val="D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58200" y="4087368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58200" y="4745736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เชื่อม BI / Dashboard องค์กร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200" y="5184648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ส่งข้อมูลเข้า Power BI ดูแนวโน้ม วางแผนกำลังคน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84048"/>
            <a:ext cx="128016" cy="566928"/>
          </a:xfrm>
          <a:prstGeom prst="rect">
            <a:avLst/>
          </a:prstGeom>
          <a:solidFill>
            <a:srgbClr val="E56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310896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5644E"/>
                </a:solidFill>
                <a:latin typeface="Tahoma"/>
                <a:ea typeface="Tahoma"/>
                <a:cs typeface="Tahoma"/>
              </a:rPr>
              <a:t>ก้าวต่อไป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57784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สิ่งที่ต้องการการสนับสนุน &amp; ขั้นตอนถัดไป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70432"/>
            <a:ext cx="12191695" cy="18288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9AA0AA"/>
                </a:solidFill>
                <a:latin typeface="Tahoma"/>
                <a:ea typeface="Tahoma"/>
                <a:cs typeface="Tahoma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0AA"/>
                </a:solidFill>
                <a:latin typeface="Tahoma"/>
                <a:ea typeface="Tahoma"/>
                <a:cs typeface="Tahoma"/>
              </a:rPr>
              <a:t>Dodoregis · ระบบลงทะเบียนและติดตามงานทดสอบ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600200"/>
            <a:ext cx="54864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600200"/>
            <a:ext cx="5486400" cy="109728"/>
          </a:xfrm>
          <a:prstGeom prst="rect">
            <a:avLst/>
          </a:prstGeom>
          <a:solidFill>
            <a:srgbClr val="E56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1874519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ต้องการการสนับสนุน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468880"/>
            <a:ext cx="493776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1">
                <a:solidFill>
                  <a:srgbClr val="E5644E"/>
                </a:solidFill>
                <a:latin typeface="Tahoma"/>
                <a:ea typeface="Tahoma"/>
                <a:cs typeface="Tahoma"/>
              </a:rPr>
              <a:t>›  </a:t>
            </a:r>
            <a:r>
              <a:rPr sz="135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เซิร์ฟเวอร์ภายในสำหรับรันระบบ (เข้าถึงจากมือถือ)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1">
                <a:solidFill>
                  <a:srgbClr val="E5644E"/>
                </a:solidFill>
                <a:latin typeface="Tahoma"/>
                <a:ea typeface="Tahoma"/>
                <a:cs typeface="Tahoma"/>
              </a:rPr>
              <a:t>›  </a:t>
            </a:r>
            <a:r>
              <a:rPr sz="135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สิทธิ์เข้าถึงโฟลเดอร์ raw data บนเครือข่ายบริษัท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1">
                <a:solidFill>
                  <a:srgbClr val="E5644E"/>
                </a:solidFill>
                <a:latin typeface="Tahoma"/>
                <a:ea typeface="Tahoma"/>
                <a:cs typeface="Tahoma"/>
              </a:rPr>
              <a:t>›  </a:t>
            </a:r>
            <a:r>
              <a:rPr sz="135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เวลา/ทรัพยากรพัฒนา Phase 3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1">
                <a:solidFill>
                  <a:srgbClr val="E5644E"/>
                </a:solidFill>
                <a:latin typeface="Tahoma"/>
                <a:ea typeface="Tahoma"/>
                <a:cs typeface="Tahoma"/>
              </a:rPr>
              <a:t>›  </a:t>
            </a:r>
            <a:r>
              <a:rPr sz="1350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ผู้ใช้นำร่องทดลองใช้จริง 1–2 เดือน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37960" y="1600200"/>
            <a:ext cx="48006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37960" y="1600200"/>
            <a:ext cx="4800600" cy="109728"/>
          </a:xfrm>
          <a:prstGeom prst="rect">
            <a:avLst/>
          </a:prstGeom>
          <a:solidFill>
            <a:srgbClr val="3B7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1874519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ขั้นตอนถัดไป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0" y="2514600"/>
            <a:ext cx="457200" cy="457200"/>
          </a:xfrm>
          <a:prstGeom prst="ellipse">
            <a:avLst/>
          </a:prstGeom>
          <a:solidFill>
            <a:srgbClr val="3B7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25146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2532888"/>
            <a:ext cx="3657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อนุมัติเดินหน้า Phase 3</a:t>
            </a:r>
          </a:p>
        </p:txBody>
      </p:sp>
      <p:sp>
        <p:nvSpPr>
          <p:cNvPr id="19" name="Oval 18"/>
          <p:cNvSpPr/>
          <p:nvPr/>
        </p:nvSpPr>
        <p:spPr>
          <a:xfrm>
            <a:off x="6858000" y="3291840"/>
            <a:ext cx="457200" cy="457200"/>
          </a:xfrm>
          <a:prstGeom prst="ellipse">
            <a:avLst/>
          </a:prstGeom>
          <a:solidFill>
            <a:srgbClr val="3B7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32918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3310128"/>
            <a:ext cx="3657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ตั้งเซิร์ฟเวอร์ + ระบบล็อกอิน</a:t>
            </a:r>
          </a:p>
        </p:txBody>
      </p:sp>
      <p:sp>
        <p:nvSpPr>
          <p:cNvPr id="22" name="Oval 21"/>
          <p:cNvSpPr/>
          <p:nvPr/>
        </p:nvSpPr>
        <p:spPr>
          <a:xfrm>
            <a:off x="6858000" y="4069080"/>
            <a:ext cx="457200" cy="457200"/>
          </a:xfrm>
          <a:prstGeom prst="ellipse">
            <a:avLst/>
          </a:prstGeom>
          <a:solidFill>
            <a:srgbClr val="3B7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40690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4087368"/>
            <a:ext cx="3657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ทดลองใช้จริงกับทีมนำร่อง</a:t>
            </a:r>
          </a:p>
        </p:txBody>
      </p:sp>
      <p:sp>
        <p:nvSpPr>
          <p:cNvPr id="25" name="Oval 24"/>
          <p:cNvSpPr/>
          <p:nvPr/>
        </p:nvSpPr>
        <p:spPr>
          <a:xfrm>
            <a:off x="6858000" y="4846320"/>
            <a:ext cx="457200" cy="457200"/>
          </a:xfrm>
          <a:prstGeom prst="ellipse">
            <a:avLst/>
          </a:prstGeom>
          <a:solidFill>
            <a:srgbClr val="3B7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48463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4864607"/>
            <a:ext cx="3657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81D26"/>
                </a:solidFill>
                <a:latin typeface="Tahoma"/>
                <a:ea typeface="Tahoma"/>
                <a:cs typeface="Tahoma"/>
              </a:rPr>
              <a:t>ปรับปรุงตาม feedback แล้วใช้เต็มองค์กร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74920" y="2148840"/>
            <a:ext cx="2011680" cy="128016"/>
          </a:xfrm>
          <a:prstGeom prst="rect">
            <a:avLst/>
          </a:prstGeom>
          <a:solidFill>
            <a:srgbClr val="2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3628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Dodoregis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20440"/>
            <a:ext cx="103628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C7CFDA"/>
                </a:solidFill>
                <a:latin typeface="Tahoma"/>
                <a:ea typeface="Tahoma"/>
                <a:cs typeface="Tahoma"/>
              </a:rPr>
              <a:t>ระบบเดียวที่ทำให้ทุกงานทดสอบ ชัดเจน ติดตามได้ ตรวจสอบย้อนกลับได้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3628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2FA36B"/>
                </a:solidFill>
                <a:latin typeface="Tahoma"/>
                <a:ea typeface="Tahoma"/>
                <a:cs typeface="Tahoma"/>
              </a:rPr>
              <a:t>ขอบคุณครับ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